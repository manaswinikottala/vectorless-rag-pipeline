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0D47A1">
              <a:alpha val="40000"/>
            </a:srgbClr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0" y="-640080"/>
            <a:ext cx="2743200" cy="2743200"/>
          </a:xfrm>
          <a:prstGeom prst="ellipse">
            <a:avLst/>
          </a:prstGeom>
          <a:solidFill>
            <a:srgbClr val="1565C0">
              <a:alpha val="5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411480"/>
            <a:ext cx="2011680" cy="34747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114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F3D"/>
                </a:solidFill>
              </a:rPr>
              <a:t>AI ARCHITECTURE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960120"/>
            <a:ext cx="8321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vs Vectorless RAG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11480" y="21488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Technical Guide &amp; Comparison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11480" y="2743200"/>
            <a:ext cx="4572000" cy="36576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907792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What is RAG?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What is Vectorless RAG?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Architecture Diagrams, Examples &amp; Best Choice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11480" y="4617720"/>
            <a:ext cx="1920240" cy="292608"/>
          </a:xfrm>
          <a:prstGeom prst="rect">
            <a:avLst/>
          </a:prstGeom>
          <a:solidFill>
            <a:srgbClr val="162952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6177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B4F0"/>
                </a:solidFill>
              </a:rPr>
              <a:t>Retrieval Augmented Generation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04872" y="4617720"/>
            <a:ext cx="1920240" cy="292608"/>
          </a:xfrm>
          <a:prstGeom prst="rect">
            <a:avLst/>
          </a:prstGeom>
          <a:solidFill>
            <a:srgbClr val="162952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04872" y="46177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B4F0"/>
                </a:solidFill>
              </a:rPr>
              <a:t>LLM Systems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98264" y="4617720"/>
            <a:ext cx="1920240" cy="292608"/>
          </a:xfrm>
          <a:prstGeom prst="rect">
            <a:avLst/>
          </a:prstGeom>
          <a:solidFill>
            <a:srgbClr val="162952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98264" y="46177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B4F0"/>
                </a:solidFill>
              </a:rPr>
              <a:t>Vector Databases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91656" y="4617720"/>
            <a:ext cx="1920240" cy="292608"/>
          </a:xfrm>
          <a:prstGeom prst="rect">
            <a:avLst/>
          </a:prstGeom>
          <a:solidFill>
            <a:srgbClr val="162952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91656" y="46177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B4F0"/>
                </a:solidFill>
              </a:rPr>
              <a:t>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AGENDA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</a:rPr>
              <a:t>What we'll cover today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114800" cy="1024128"/>
          </a:xfrm>
          <a:prstGeom prst="rect">
            <a:avLst/>
          </a:prstGeom>
          <a:solidFill>
            <a:srgbClr val="FFFFFF"/>
          </a:solidFill>
          <a:ln w="15240">
            <a:solidFill>
              <a:srgbClr val="E3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502920" cy="10241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502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3441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</a:rPr>
              <a:t>RAG – Retrieval Augmented Generation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17099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Definition, architecture, how it works, real-world example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450592"/>
            <a:ext cx="4114800" cy="1024128"/>
          </a:xfrm>
          <a:prstGeom prst="rect">
            <a:avLst/>
          </a:prstGeom>
          <a:solidFill>
            <a:srgbClr val="FFFFFF"/>
          </a:solidFill>
          <a:ln w="15240">
            <a:solidFill>
              <a:srgbClr val="E3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450592"/>
            <a:ext cx="502920" cy="10241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450592"/>
            <a:ext cx="502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25603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</a:rPr>
              <a:t>Vectorless RAG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2926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Definition, architecture, how it works, real-world example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666744"/>
            <a:ext cx="4114800" cy="1024128"/>
          </a:xfrm>
          <a:prstGeom prst="rect">
            <a:avLst/>
          </a:prstGeom>
          <a:solidFill>
            <a:srgbClr val="FFFFFF"/>
          </a:solidFill>
          <a:ln w="15240">
            <a:solidFill>
              <a:srgbClr val="E3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666744"/>
            <a:ext cx="502920" cy="10241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666744"/>
            <a:ext cx="502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37764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</a:rPr>
              <a:t>Architecture Diagrams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4400" y="41422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Visual flow comparison of both approaches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92040" y="1234440"/>
            <a:ext cx="4114800" cy="1024128"/>
          </a:xfrm>
          <a:prstGeom prst="rect">
            <a:avLst/>
          </a:prstGeom>
          <a:solidFill>
            <a:srgbClr val="FFFFFF"/>
          </a:solidFill>
          <a:ln w="15240">
            <a:solidFill>
              <a:srgbClr val="E3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1234440"/>
            <a:ext cx="502920" cy="10241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234440"/>
            <a:ext cx="502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0" y="13441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</a:rPr>
              <a:t>Side-by-Side Comparison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0" y="17099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Detailed differences across key dimensions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92040" y="2450592"/>
            <a:ext cx="4114800" cy="1024128"/>
          </a:xfrm>
          <a:prstGeom prst="rect">
            <a:avLst/>
          </a:prstGeom>
          <a:solidFill>
            <a:srgbClr val="FFFFFF"/>
          </a:solidFill>
          <a:ln w="15240">
            <a:solidFill>
              <a:srgbClr val="E3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2450592"/>
            <a:ext cx="502920" cy="102412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450592"/>
            <a:ext cx="502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86400" y="25603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</a:rPr>
              <a:t>Which One Should You Use?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0" y="2926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Decision guide, use cases &amp; final verdict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01  |  RAG – Retrieval Augmented Generation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868680"/>
          </a:xfrm>
          <a:prstGeom prst="rect">
            <a:avLst/>
          </a:prstGeom>
          <a:solidFill>
            <a:srgbClr val="EBF5FF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595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</a:rPr>
              <a:t>📖  Definition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</a:rPr>
              <a:t>RAG (Retrieval Augmented Generation) is a technique that enhances Large Language Models (LLMs) by dynamically retrieving relevant documents from an external knowledge base — typically a vector database — and injecting them into the prompt before generation.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004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</a:rPr>
              <a:t>HOW IT WORKS — STEP BY STEP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231136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231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224942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</a:rPr>
              <a:t>Ingestion: 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737360" y="224942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</a:rPr>
              <a:t>Documents are chunked and converted into embeddings (vectors) and stored in a vector DB (e.g. Pinecone, Weaviate, FAISS).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8056" y="2633472"/>
            <a:ext cx="18288" cy="201168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779776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4672" y="279806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</a:rPr>
              <a:t>Query: 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737360" y="279806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</a:rPr>
              <a:t>User question is also converted to an embedding vector by the same embedding model.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8056" y="3182112"/>
            <a:ext cx="18288" cy="201168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328416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4672" y="334670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</a:rPr>
              <a:t>Retrieval: 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737360" y="334670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</a:rPr>
              <a:t>Cosine similarity search finds the top-K most relevant chunks from the vector database.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48056" y="3730752"/>
            <a:ext cx="18288" cy="201168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877056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4672" y="389534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</a:rPr>
              <a:t>Augmentation: 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737360" y="389534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</a:rPr>
              <a:t>Retrieved chunks are injected into the LLM prompt as additional context.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48056" y="4279392"/>
            <a:ext cx="18288" cy="201168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4425696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425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04672" y="444398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</a:rPr>
              <a:t>Generation: 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737360" y="444398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</a:rPr>
              <a:t>LLM generates a grounded, fact-based answer using the retrieved context.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RAG – Real-World Example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</a:rPr>
              <a:t>🏥  Example: Hospital FAQ Chatbot using RAG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" y="1261872"/>
            <a:ext cx="169164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261872"/>
            <a:ext cx="169164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26187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 Asks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1664208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"What are the visiting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hours at Ward 5?"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74520" y="1874520"/>
            <a:ext cx="347472" cy="45720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21408" y="179222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57400" y="1261872"/>
            <a:ext cx="169164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77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57400" y="1261872"/>
            <a:ext cx="1691640" cy="347472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57400" y="126187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Embed Query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30552" y="1664208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Convert question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to vector [0.2, 0.8, ...]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749040" y="1874520"/>
            <a:ext cx="347472" cy="45720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95928" y="179222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31920" y="1261872"/>
            <a:ext cx="169164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69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931920" y="1261872"/>
            <a:ext cx="1691640" cy="3474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0" y="126187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Vector Search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005072" y="1664208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Cosine similarity 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FAISS/Pinecone DB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23560" y="1874520"/>
            <a:ext cx="347472" cy="45720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70448" y="179222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06440" y="1261872"/>
            <a:ext cx="169164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806440" y="1261872"/>
            <a:ext cx="169164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06440" y="126187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Retrieve Chunks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79592" y="1664208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"Ward 5 hours: 9am-8pm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No children under 12"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498080" y="1874520"/>
            <a:ext cx="347472" cy="45720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44968" y="179222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680960" y="1261872"/>
            <a:ext cx="169164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680960" y="1261872"/>
            <a:ext cx="169164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126187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LLM Generates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54112" y="1664208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"Ward 5 visiting hours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are 9am–8pm daily."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2004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</a:rPr>
              <a:t>KEY BENEFITS OF RAG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0040" y="32004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</a:rPr>
              <a:t>✅  Grounded answers — LLM can only say what's in your documents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0040" y="359359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</a:rPr>
              <a:t>✅  Up-to-date knowledge — update DB, no model retraining needed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0040" y="39867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</a:rPr>
              <a:t>✅  Source citations possible — traceable to original document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0040" y="43799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</a:rPr>
              <a:t>✅  Scalable to millions of documents via vector indexing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5488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</a:rPr>
              <a:t>LIMITATIONS OF RAG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54880" y="32004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</a:rPr>
              <a:t>❌  Requires vector database infrastructure (cost &amp; complexity)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54880" y="359359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</a:rPr>
              <a:t>❌  Embedding model needed — adds latency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54880" y="39867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</a:rPr>
              <a:t>❌  Chunking strategy greatly affects retrieval quality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54880" y="43799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</a:rPr>
              <a:t>❌  Context window limits how many chunks can be injected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02  |  Vectorless RAG – No Vector Database Needed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868680"/>
          </a:xfrm>
          <a:prstGeom prst="rect">
            <a:avLst/>
          </a:prstGeom>
          <a:solidFill>
            <a:srgbClr val="E0F7F4"/>
          </a:solidFill>
          <a:ln w="254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595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</a:rPr>
              <a:t>📖  Definition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</a:rPr>
              <a:t>Vectorless RAG retrieves and uses external knowledge WITHOUT embedding documents into vectors or using a vector database. Instead it relies on keyword/BM25 search, structured SQL queries, API calls, or direct document injection — then passes results to the LLM.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004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</a:rPr>
              <a:t>RETRIEVAL STRATEGIES IN VECTORLESS RAG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176272"/>
            <a:ext cx="8503920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176272"/>
            <a:ext cx="45720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🔍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2311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897B"/>
                </a:solidFill>
              </a:rPr>
              <a:t>BM25 / Keyword Search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00400" y="22311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</a:rPr>
              <a:t>Classic full-text search (Elasticsearch, Lucene). Matches exact keywords. Fast, no GPU needed.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706624"/>
            <a:ext cx="8503920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0277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706624"/>
            <a:ext cx="457200" cy="45720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706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🗄️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2761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77BD"/>
                </a:solidFill>
              </a:rPr>
              <a:t>SQL / Structured Retrieval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00400" y="27614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</a:rPr>
              <a:t>LLM generates SQL queries from natural language, fetches rows from a relational database.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236976"/>
            <a:ext cx="8503920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236976"/>
            <a:ext cx="45720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5100"/>
                </a:solidFill>
              </a:rPr>
              <a:t>API / Web Retrieval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200400" y="3291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</a:rPr>
              <a:t>Live calls to REST APIs, web scrapers, or search engines (SerpAPI, Google) to fetch fresh data.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3767328"/>
            <a:ext cx="8503920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4A14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767328"/>
            <a:ext cx="457200" cy="45720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📄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68680" y="3822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148C"/>
                </a:solidFill>
              </a:rPr>
              <a:t>Direct Context Injection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200400" y="38221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</a:rPr>
              <a:t>Small documents or files are directly pasted into the LLM prompt — no retrieval at all.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4297680"/>
            <a:ext cx="8503920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B71C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4297680"/>
            <a:ext cx="457200" cy="457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🔗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68680" y="43525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71C1C"/>
                </a:solidFill>
              </a:rPr>
              <a:t>Graph / Knowledge Base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200400" y="435254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</a:rPr>
              <a:t>Query structured knowledge graphs (Neo4j, Wikidata) using SPARQL or Cypher without vectors.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Vectorless RAG – Real-World Examples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77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8503920" cy="32004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🗄️  SQL Retrieval Example — E-commerce Store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920240" cy="566928"/>
          </a:xfrm>
          <a:prstGeom prst="rect">
            <a:avLst/>
          </a:prstGeom>
          <a:solidFill>
            <a:srgbClr val="F5F9FF"/>
          </a:solidFill>
          <a:ln w="15240">
            <a:solidFill>
              <a:srgbClr val="0277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2618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1. User: 'Show orders &gt; ₹5000 this week'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423160" y="13716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77BD"/>
                </a:solidFill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87752" y="1207008"/>
            <a:ext cx="1920240" cy="566928"/>
          </a:xfrm>
          <a:prstGeom prst="rect">
            <a:avLst/>
          </a:prstGeom>
          <a:solidFill>
            <a:srgbClr val="F5F9FF"/>
          </a:solidFill>
          <a:ln w="15240">
            <a:solidFill>
              <a:srgbClr val="0277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0904" y="12618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2. LLM → SQL: SELECT * FROM orders WHERE amount &gt; 5000 AND date &gt;= NOW()-7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07992" y="13716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77BD"/>
                </a:solidFill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72584" y="1207008"/>
            <a:ext cx="1920240" cy="566928"/>
          </a:xfrm>
          <a:prstGeom prst="rect">
            <a:avLst/>
          </a:prstGeom>
          <a:solidFill>
            <a:srgbClr val="F5F9FF"/>
          </a:solidFill>
          <a:ln w="15240">
            <a:solidFill>
              <a:srgbClr val="0277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45736" y="12618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3. DB returns rows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592824" y="13716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77BD"/>
                </a:solidFill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57416" y="1207008"/>
            <a:ext cx="1920240" cy="566928"/>
          </a:xfrm>
          <a:prstGeom prst="rect">
            <a:avLst/>
          </a:prstGeom>
          <a:solidFill>
            <a:srgbClr val="F5F9FF"/>
          </a:solidFill>
          <a:ln w="15240">
            <a:solidFill>
              <a:srgbClr val="0277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30568" y="12618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4. LLM formats: '15 orders found...'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1837944"/>
            <a:ext cx="8503920" cy="246888"/>
          </a:xfrm>
          <a:prstGeom prst="rect">
            <a:avLst/>
          </a:prstGeom>
          <a:solidFill>
            <a:srgbClr val="000000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1837944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77BD"/>
                </a:solidFill>
              </a:rPr>
              <a:t>💡 No vectors! Pure SQL query generated by LLM.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221992"/>
            <a:ext cx="850392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221992"/>
            <a:ext cx="8503920" cy="3200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2219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🔍  BM25 Example — News Aggregator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2624328"/>
            <a:ext cx="1920240" cy="566928"/>
          </a:xfrm>
          <a:prstGeom prst="rect">
            <a:avLst/>
          </a:prstGeom>
          <a:solidFill>
            <a:srgbClr val="F5F9FF"/>
          </a:solidFill>
          <a:ln w="15240">
            <a:solidFill>
              <a:srgbClr val="008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" y="26791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1. User: 'Latest news on RBI policy'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423160" y="27889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897B"/>
                </a:solidFill>
              </a:rPr>
              <a:t>→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87752" y="2624328"/>
            <a:ext cx="1920240" cy="566928"/>
          </a:xfrm>
          <a:prstGeom prst="rect">
            <a:avLst/>
          </a:prstGeom>
          <a:solidFill>
            <a:srgbClr val="F5F9FF"/>
          </a:solidFill>
          <a:ln w="15240">
            <a:solidFill>
              <a:srgbClr val="0089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60904" y="26791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2. BM25 search on article index: 'RBI policy 2024'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07992" y="27889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897B"/>
                </a:solidFill>
              </a:rPr>
              <a:t>→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72584" y="2624328"/>
            <a:ext cx="1920240" cy="566928"/>
          </a:xfrm>
          <a:prstGeom prst="rect">
            <a:avLst/>
          </a:prstGeom>
          <a:solidFill>
            <a:srgbClr val="F5F9FF"/>
          </a:solidFill>
          <a:ln w="15240">
            <a:solidFill>
              <a:srgbClr val="0089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45736" y="26791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3. Top-5 articles returned by keyword rank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592824" y="27889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897B"/>
                </a:solidFill>
              </a:rPr>
              <a:t>→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757416" y="2624328"/>
            <a:ext cx="1920240" cy="566928"/>
          </a:xfrm>
          <a:prstGeom prst="rect">
            <a:avLst/>
          </a:prstGeom>
          <a:solidFill>
            <a:srgbClr val="F5F9FF"/>
          </a:solidFill>
          <a:ln w="15240">
            <a:solidFill>
              <a:srgbClr val="00897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30568" y="26791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4. LLM summarizes: 'RBI held rates at 6.5%...'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0040" y="3255264"/>
            <a:ext cx="8503920" cy="246888"/>
          </a:xfrm>
          <a:prstGeom prst="rect">
            <a:avLst/>
          </a:prstGeom>
          <a:solidFill>
            <a:srgbClr val="00000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255264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97B"/>
                </a:solidFill>
              </a:rPr>
              <a:t>💡 No embeddings! Classic inverted index search.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3639312"/>
            <a:ext cx="850392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3639312"/>
            <a:ext cx="8503920" cy="3200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6393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🌐  API Retrieval Example — Weather Bot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02920" y="4041648"/>
            <a:ext cx="1920240" cy="566928"/>
          </a:xfrm>
          <a:prstGeom prst="rect">
            <a:avLst/>
          </a:prstGeom>
          <a:solidFill>
            <a:srgbClr val="F5F9FF"/>
          </a:solidFill>
          <a:ln w="15240">
            <a:solidFill>
              <a:srgbClr val="E651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6072" y="40965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1. User: 'What's the weather in Hyderabad?'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423160" y="42062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5100"/>
                </a:solidFill>
              </a:rPr>
              <a:t>→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2587752" y="4041648"/>
            <a:ext cx="1920240" cy="566928"/>
          </a:xfrm>
          <a:prstGeom prst="rect">
            <a:avLst/>
          </a:prstGeom>
          <a:solidFill>
            <a:srgbClr val="F5F9FF"/>
          </a:solidFill>
          <a:ln w="15240">
            <a:solidFill>
              <a:srgbClr val="E651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60904" y="40965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2. LLM calls OpenWeatherMap API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507992" y="42062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5100"/>
                </a:solidFill>
              </a:rPr>
              <a:t>→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672584" y="4041648"/>
            <a:ext cx="1920240" cy="566928"/>
          </a:xfrm>
          <a:prstGeom prst="rect">
            <a:avLst/>
          </a:prstGeom>
          <a:solidFill>
            <a:srgbClr val="F5F9FF"/>
          </a:solidFill>
          <a:ln w="15240">
            <a:solidFill>
              <a:srgbClr val="E651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45736" y="40965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3. API returns JSON: {temp: 34, humidity: 60}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592824" y="42062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5100"/>
                </a:solidFill>
              </a:rPr>
              <a:t>→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757416" y="4041648"/>
            <a:ext cx="1920240" cy="566928"/>
          </a:xfrm>
          <a:prstGeom prst="rect">
            <a:avLst/>
          </a:prstGeom>
          <a:solidFill>
            <a:srgbClr val="F5F9FF"/>
          </a:solidFill>
          <a:ln w="15240">
            <a:solidFill>
              <a:srgbClr val="E651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30568" y="40965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4. LLM answers: 'It is 34°C and humid today.'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20040" y="4672584"/>
            <a:ext cx="8503920" cy="246888"/>
          </a:xfrm>
          <a:prstGeom prst="rect">
            <a:avLst/>
          </a:prstGeom>
          <a:solidFill>
            <a:srgbClr val="0000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4672584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</a:rPr>
              <a:t>💡 No database at all! Live API call.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927"/>
          </a:solidFill>
          <a:ln w="12700">
            <a:solidFill>
              <a:srgbClr val="0D19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BCD4"/>
                </a:solidFill>
              </a:rPr>
              <a:t>03  |  RAG Architecture Diagram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8686800" cy="274320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A4CF"/>
                </a:solidFill>
              </a:rPr>
              <a:t>OFFLINE INDEXING PIPELINE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1691640" cy="1051560"/>
          </a:xfrm>
          <a:prstGeom prst="rect">
            <a:avLst/>
          </a:prstGeom>
          <a:solidFill>
            <a:srgbClr val="1E3A5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1887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0CAF9"/>
                </a:solidFill>
              </a:rPr>
              <a:t>Raw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90CAF9"/>
                </a:solidFill>
              </a:rPr>
              <a:t>Documents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" y="153619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CAF9"/>
                </a:solidFill>
              </a:rPr>
              <a:t>PDF, Word,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0CAF9"/>
                </a:solidFill>
              </a:rPr>
              <a:t>HTML, TXT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11680" y="1600200"/>
            <a:ext cx="484632" cy="36576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04872" y="152704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A4CF"/>
                </a:solidFill>
              </a:rPr>
              <a:t>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94560" y="1143000"/>
            <a:ext cx="1691640" cy="1051560"/>
          </a:xfrm>
          <a:prstGeom prst="rect">
            <a:avLst/>
          </a:prstGeom>
          <a:solidFill>
            <a:srgbClr val="1E3A5F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7712" y="11887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0CAF9"/>
                </a:solidFill>
              </a:rPr>
              <a:t>Chunking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67712" y="153619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CAF9"/>
                </a:solidFill>
              </a:rPr>
              <a:t>Split into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0CAF9"/>
                </a:solidFill>
              </a:rPr>
              <a:t>512-token pieces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86200" y="1600200"/>
            <a:ext cx="484632" cy="36576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79392" y="152704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A4CF"/>
                </a:solidFill>
              </a:rPr>
              <a:t>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069080" y="1143000"/>
            <a:ext cx="1691640" cy="1051560"/>
          </a:xfrm>
          <a:prstGeom prst="rect">
            <a:avLst/>
          </a:prstGeom>
          <a:solidFill>
            <a:srgbClr val="0D47A1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42232" y="11887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F2FD"/>
                </a:solidFill>
              </a:rPr>
              <a:t>Embedding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3F2FD"/>
                </a:solidFill>
              </a:rPr>
              <a:t>Model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42232" y="153619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CAF9"/>
                </a:solidFill>
              </a:rPr>
              <a:t>text-ada-002,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0CAF9"/>
                </a:solidFill>
              </a:rPr>
              <a:t>BGE, E5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760720" y="1600200"/>
            <a:ext cx="484632" cy="36576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53912" y="152704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A4CF"/>
                </a:solidFill>
              </a:rPr>
              <a:t>▶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0" y="1143000"/>
            <a:ext cx="1691640" cy="1051560"/>
          </a:xfrm>
          <a:prstGeom prst="rect">
            <a:avLst/>
          </a:prstGeom>
          <a:solidFill>
            <a:srgbClr val="006064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16752" y="11887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2EBF2"/>
                </a:solidFill>
              </a:rPr>
              <a:t>Vector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B2EBF2"/>
                </a:solidFill>
              </a:rPr>
              <a:t>Database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16752" y="153619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CAF9"/>
                </a:solidFill>
              </a:rPr>
              <a:t>Pinecone, FAISS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0CAF9"/>
                </a:solidFill>
              </a:rPr>
              <a:t>Weaviate, Chroma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28600" y="2395728"/>
            <a:ext cx="8686800" cy="274320"/>
          </a:xfrm>
          <a:prstGeom prst="rect">
            <a:avLst/>
          </a:prstGeom>
          <a:solidFill>
            <a:srgbClr val="1A1A2E"/>
          </a:solidFill>
          <a:ln w="12700">
            <a:solidFill>
              <a:srgbClr val="4A37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395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74D"/>
                </a:solidFill>
              </a:rPr>
              <a:t>ONLINE QUERY PIPELINE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2743200"/>
            <a:ext cx="1691640" cy="1051560"/>
          </a:xfrm>
          <a:prstGeom prst="rect">
            <a:avLst/>
          </a:prstGeom>
          <a:solidFill>
            <a:srgbClr val="1A1A2E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" y="27889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54F"/>
                </a:solidFill>
              </a:rPr>
              <a:t>User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D54F"/>
                </a:solidFill>
              </a:rPr>
              <a:t>Query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3192" y="313639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D54F"/>
                </a:solidFill>
              </a:rPr>
              <a:t>"What are the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D54F"/>
                </a:solidFill>
              </a:rPr>
              <a:t>visiting hours?"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011680" y="3227832"/>
            <a:ext cx="484632" cy="36576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04872" y="314553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74D"/>
                </a:solidFill>
              </a:rPr>
              <a:t>▶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194560" y="2743200"/>
            <a:ext cx="1691640" cy="1051560"/>
          </a:xfrm>
          <a:prstGeom prst="rect">
            <a:avLst/>
          </a:prstGeom>
          <a:solidFill>
            <a:srgbClr val="1A237E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67712" y="27889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CAE9"/>
                </a:solidFill>
              </a:rPr>
              <a:t>Query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5CAE9"/>
                </a:solidFill>
              </a:rPr>
              <a:t>Embedding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267712" y="313639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5CAE9"/>
                </a:solidFill>
              </a:rPr>
              <a:t>Same embedding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5CAE9"/>
                </a:solidFill>
              </a:rPr>
              <a:t>model as indexing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886200" y="3227832"/>
            <a:ext cx="484632" cy="36576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79392" y="314553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74D"/>
                </a:solidFill>
              </a:rPr>
              <a:t>▶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069080" y="2743200"/>
            <a:ext cx="1691640" cy="1051560"/>
          </a:xfrm>
          <a:prstGeom prst="rect">
            <a:avLst/>
          </a:prstGeom>
          <a:solidFill>
            <a:srgbClr val="006064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42232" y="27889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2EBF2"/>
                </a:solidFill>
              </a:rPr>
              <a:t>Similarity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B2EBF2"/>
                </a:solidFill>
              </a:rPr>
              <a:t>Search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142232" y="313639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2EBF2"/>
                </a:solidFill>
              </a:rPr>
              <a:t>Top-K chunks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2EBF2"/>
                </a:solidFill>
              </a:rPr>
              <a:t>by cosine sim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760720" y="3227832"/>
            <a:ext cx="484632" cy="36576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53912" y="314553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74D"/>
                </a:solidFill>
              </a:rPr>
              <a:t>▶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943600" y="2743200"/>
            <a:ext cx="1691640" cy="1051560"/>
          </a:xfrm>
          <a:prstGeom prst="rect">
            <a:avLst/>
          </a:prstGeom>
          <a:solidFill>
            <a:srgbClr val="3E2723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16752" y="27889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CBC"/>
                </a:solidFill>
              </a:rPr>
              <a:t>Prompt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CCBC"/>
                </a:solidFill>
              </a:rPr>
              <a:t>Augment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016752" y="313639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CCBC"/>
                </a:solidFill>
              </a:rPr>
              <a:t>Context + Query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CCBC"/>
                </a:solidFill>
              </a:rPr>
              <a:t>injected to LLM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635240" y="3227832"/>
            <a:ext cx="347472" cy="36576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91272" y="314553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74D"/>
                </a:solidFill>
              </a:rPr>
              <a:t>▶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680960" y="2743200"/>
            <a:ext cx="1280160" cy="1051560"/>
          </a:xfrm>
          <a:prstGeom prst="rect">
            <a:avLst/>
          </a:prstGeom>
          <a:solidFill>
            <a:srgbClr val="1B5E20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54112" y="278892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D6A7"/>
                </a:solidFill>
              </a:rPr>
              <a:t>LLM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A5D6A7"/>
                </a:solidFill>
              </a:rPr>
              <a:t>Answer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754112" y="3136392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5D6A7"/>
                </a:solidFill>
              </a:rPr>
              <a:t>GPT-4, Claude,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5D6A7"/>
                </a:solidFill>
              </a:rPr>
              <a:t>Llama3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784848" y="2194560"/>
            <a:ext cx="36576" cy="5486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92240" y="22402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BCD4"/>
                </a:solidFill>
              </a:rPr>
              <a:t>↓ retrieve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927"/>
          </a:solidFill>
          <a:ln w="12700">
            <a:solidFill>
              <a:srgbClr val="0D19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5D6A7"/>
                </a:solidFill>
              </a:rPr>
              <a:t>03  |  Vectorless RAG Architecture Diagram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CBC4"/>
                </a:solidFill>
              </a:rPr>
              <a:t>NO vector database • NO embedding model • Multiple retrieval strategies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2724912" cy="310896"/>
          </a:xfrm>
          <a:prstGeom prst="rect">
            <a:avLst/>
          </a:prstGeom>
          <a:solidFill>
            <a:srgbClr val="0277BD"/>
          </a:solidFill>
          <a:ln w="15240">
            <a:solidFill>
              <a:srgbClr val="0277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15568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BM25 / Keyword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536192"/>
            <a:ext cx="2724912" cy="658368"/>
          </a:xfrm>
          <a:prstGeom prst="rect">
            <a:avLst/>
          </a:prstGeom>
          <a:solidFill>
            <a:srgbClr val="162236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81912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User Query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664208" y="2194560"/>
            <a:ext cx="36576" cy="18288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81912" y="23134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77BD"/>
                </a:solidFill>
              </a:rPr>
              <a:t>▼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2377440"/>
            <a:ext cx="2724912" cy="658368"/>
          </a:xfrm>
          <a:prstGeom prst="rect">
            <a:avLst/>
          </a:prstGeom>
          <a:solidFill>
            <a:srgbClr val="162236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423160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BM25 Index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(Elasticsearch)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664208" y="3035808"/>
            <a:ext cx="36576" cy="18288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81912" y="315468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77BD"/>
                </a:solidFill>
              </a:rPr>
              <a:t>▼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3218688"/>
            <a:ext cx="2724912" cy="658368"/>
          </a:xfrm>
          <a:prstGeom prst="rect">
            <a:avLst/>
          </a:prstGeom>
          <a:solidFill>
            <a:srgbClr val="162236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264408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Ranked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Keyword Results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664208" y="3877056"/>
            <a:ext cx="36576" cy="18288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81912" y="399592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77BD"/>
                </a:solidFill>
              </a:rPr>
              <a:t>▼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4059936"/>
            <a:ext cx="2724912" cy="658368"/>
          </a:xfrm>
          <a:prstGeom prst="rect">
            <a:avLst/>
          </a:prstGeom>
          <a:solidFill>
            <a:srgbClr val="162236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105656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LLM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Answer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46120" y="1115568"/>
            <a:ext cx="2724912" cy="310896"/>
          </a:xfrm>
          <a:prstGeom prst="rect">
            <a:avLst/>
          </a:prstGeom>
          <a:solidFill>
            <a:srgbClr val="2E7D32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1115568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SQL / Structured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46120" y="1536192"/>
            <a:ext cx="2724912" cy="658368"/>
          </a:xfrm>
          <a:prstGeom prst="rect">
            <a:avLst/>
          </a:prstGeom>
          <a:solidFill>
            <a:srgbClr val="162236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1581912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User Query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90288" y="2194560"/>
            <a:ext cx="36576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07992" y="23134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</a:rPr>
              <a:t>▼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46120" y="2377440"/>
            <a:ext cx="2724912" cy="658368"/>
          </a:xfrm>
          <a:prstGeom prst="rect">
            <a:avLst/>
          </a:prstGeom>
          <a:solidFill>
            <a:srgbClr val="162236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2423160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LLM → SQL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Query Gen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90288" y="3035808"/>
            <a:ext cx="36576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07992" y="315468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</a:rPr>
              <a:t>▼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46120" y="3218688"/>
            <a:ext cx="2724912" cy="658368"/>
          </a:xfrm>
          <a:prstGeom prst="rect">
            <a:avLst/>
          </a:prstGeom>
          <a:solidFill>
            <a:srgbClr val="162236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3264408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Relational DB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(MySQL/PG)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90288" y="3877056"/>
            <a:ext cx="36576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07992" y="399592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</a:rPr>
              <a:t>▼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46120" y="4059936"/>
            <a:ext cx="2724912" cy="658368"/>
          </a:xfrm>
          <a:prstGeom prst="rect">
            <a:avLst/>
          </a:prstGeom>
          <a:solidFill>
            <a:srgbClr val="162236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37560" y="4105656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LLM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Answer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72200" y="1115568"/>
            <a:ext cx="2724912" cy="310896"/>
          </a:xfrm>
          <a:prstGeom prst="rect">
            <a:avLst/>
          </a:prstGeom>
          <a:solidFill>
            <a:srgbClr val="E65100"/>
          </a:solidFill>
          <a:ln w="15240">
            <a:solidFill>
              <a:srgbClr val="E651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1115568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API / Web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72200" y="1536192"/>
            <a:ext cx="2724912" cy="658368"/>
          </a:xfrm>
          <a:prstGeom prst="rect">
            <a:avLst/>
          </a:prstGeom>
          <a:solidFill>
            <a:srgbClr val="162236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1581912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User Query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516368" y="2194560"/>
            <a:ext cx="36576" cy="1828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34072" y="23134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5100"/>
                </a:solidFill>
              </a:rPr>
              <a:t>▼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72200" y="2377440"/>
            <a:ext cx="2724912" cy="658368"/>
          </a:xfrm>
          <a:prstGeom prst="rect">
            <a:avLst/>
          </a:prstGeom>
          <a:solidFill>
            <a:srgbClr val="162236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63640" y="2423160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LLM → API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Call Params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516368" y="3035808"/>
            <a:ext cx="36576" cy="1828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34072" y="315468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5100"/>
                </a:solidFill>
              </a:rPr>
              <a:t>▼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172200" y="3218688"/>
            <a:ext cx="2724912" cy="658368"/>
          </a:xfrm>
          <a:prstGeom prst="rect">
            <a:avLst/>
          </a:prstGeom>
          <a:solidFill>
            <a:srgbClr val="162236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63640" y="3264408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REST API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Scraper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516368" y="3877056"/>
            <a:ext cx="36576" cy="1828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34072" y="399592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5100"/>
                </a:solidFill>
              </a:rPr>
              <a:t>▼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172200" y="4059936"/>
            <a:ext cx="2724912" cy="658368"/>
          </a:xfrm>
          <a:prstGeom prst="rect">
            <a:avLst/>
          </a:prstGeom>
          <a:solidFill>
            <a:srgbClr val="162236"/>
          </a:solidFill>
          <a:ln w="1524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63640" y="4105656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LLM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Answer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228600" y="4754880"/>
            <a:ext cx="8686800" cy="256032"/>
          </a:xfrm>
          <a:prstGeom prst="rect">
            <a:avLst/>
          </a:prstGeom>
          <a:solidFill>
            <a:srgbClr val="162236"/>
          </a:solidFill>
          <a:ln w="12700">
            <a:solidFill>
              <a:srgbClr val="2E4A6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CBC4"/>
                </a:solidFill>
              </a:rPr>
              <a:t>💡 All paths converge to LLM generation — the difference is HOW knowledge is retrieved, not the generation step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04  |  Side-by-Side Comparison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2194560" cy="347472"/>
          </a:xfrm>
          <a:prstGeom prst="rect">
            <a:avLst/>
          </a:prstGeom>
          <a:solidFill>
            <a:srgbClr val="0F1F3D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8638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Dimension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423160" y="749808"/>
            <a:ext cx="2560320" cy="347472"/>
          </a:xfrm>
          <a:prstGeom prst="rect">
            <a:avLst/>
          </a:prstGeom>
          <a:solidFill>
            <a:srgbClr val="0F1F3D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4600" y="78638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RAG (Vector-Based)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983480" y="749808"/>
            <a:ext cx="2560320" cy="347472"/>
          </a:xfrm>
          <a:prstGeom prst="rect">
            <a:avLst/>
          </a:prstGeom>
          <a:solidFill>
            <a:srgbClr val="0F1F3D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74920" y="78638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Vectorless RAG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543800" y="749808"/>
            <a:ext cx="1554480" cy="347472"/>
          </a:xfrm>
          <a:prstGeom prst="rect">
            <a:avLst/>
          </a:prstGeom>
          <a:solidFill>
            <a:srgbClr val="0F1F3D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78638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Winner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1097280"/>
            <a:ext cx="2194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13385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32"/>
                </a:solidFill>
              </a:rPr>
              <a:t>Retrieval Method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23160" y="1097280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113385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Semantic similarity (cosine)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83480" y="1097280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113385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Keyword, SQL, API, or direct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543800" y="1097280"/>
            <a:ext cx="1554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35240" y="11338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Depends on use case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1444752"/>
            <a:ext cx="2194560" cy="347472"/>
          </a:xfrm>
          <a:prstGeom prst="rect">
            <a:avLst/>
          </a:prstGeom>
          <a:solidFill>
            <a:srgbClr val="EBF5FF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148132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32"/>
                </a:solidFill>
              </a:rPr>
              <a:t>Infrastructure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423160" y="1444752"/>
            <a:ext cx="2560320" cy="347472"/>
          </a:xfrm>
          <a:prstGeom prst="rect">
            <a:avLst/>
          </a:prstGeom>
          <a:solidFill>
            <a:srgbClr val="EBF5FF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14600" y="14813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Vector DB required (Pinecone/FAISS)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83480" y="1444752"/>
            <a:ext cx="2560320" cy="347472"/>
          </a:xfrm>
          <a:prstGeom prst="rect">
            <a:avLst/>
          </a:prstGeom>
          <a:solidFill>
            <a:srgbClr val="EBF5FF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14813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No vector DB needed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43800" y="1444752"/>
            <a:ext cx="1554480" cy="347472"/>
          </a:xfrm>
          <a:prstGeom prst="rect">
            <a:avLst/>
          </a:prstGeom>
          <a:solidFill>
            <a:srgbClr val="EBF5FF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5240" y="14813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897B"/>
                </a:solidFill>
              </a:rPr>
              <a:t>Vectorless ✅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8600" y="1792224"/>
            <a:ext cx="2194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182880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32"/>
                </a:solidFill>
              </a:rPr>
              <a:t>Setup Complexity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23160" y="1792224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14600" y="18288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High — embedding + vector store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983480" y="1792224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18288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Low — existing search/DB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543800" y="1792224"/>
            <a:ext cx="1554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35240" y="1828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897B"/>
                </a:solidFill>
              </a:rPr>
              <a:t>Vectorless ✅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28600" y="2139696"/>
            <a:ext cx="2194560" cy="347472"/>
          </a:xfrm>
          <a:prstGeom prst="rect">
            <a:avLst/>
          </a:prstGeom>
          <a:solidFill>
            <a:srgbClr val="EBF5FF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21762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32"/>
                </a:solidFill>
              </a:rPr>
              <a:t>Query Type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423160" y="2139696"/>
            <a:ext cx="2560320" cy="347472"/>
          </a:xfrm>
          <a:prstGeom prst="rect">
            <a:avLst/>
          </a:prstGeom>
          <a:solidFill>
            <a:srgbClr val="EBF5FF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14600" y="21762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Fuzzy / semantic / natural language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983480" y="2139696"/>
            <a:ext cx="2560320" cy="347472"/>
          </a:xfrm>
          <a:prstGeom prst="rect">
            <a:avLst/>
          </a:prstGeom>
          <a:solidFill>
            <a:srgbClr val="EBF5FF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4920" y="21762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Exact match or structured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543800" y="2139696"/>
            <a:ext cx="1554480" cy="347472"/>
          </a:xfrm>
          <a:prstGeom prst="rect">
            <a:avLst/>
          </a:prstGeom>
          <a:solidFill>
            <a:srgbClr val="EBF5FF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35240" y="217627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</a:rPr>
              <a:t>RAG ✅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28600" y="2487168"/>
            <a:ext cx="2194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252374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32"/>
                </a:solidFill>
              </a:rPr>
              <a:t>Freshness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423160" y="2487168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14600" y="252374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Needs re-indexing to update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983480" y="2487168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74920" y="252374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Real-time via API/SQL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543800" y="2487168"/>
            <a:ext cx="1554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35240" y="252374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897B"/>
                </a:solidFill>
              </a:rPr>
              <a:t>Vectorless ✅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28600" y="2834640"/>
            <a:ext cx="2194560" cy="347472"/>
          </a:xfrm>
          <a:prstGeom prst="rect">
            <a:avLst/>
          </a:prstGeom>
          <a:solidFill>
            <a:srgbClr val="EBF5FF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287121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32"/>
                </a:solidFill>
              </a:rPr>
              <a:t>Accuracy (Semantic)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423160" y="2834640"/>
            <a:ext cx="2560320" cy="347472"/>
          </a:xfrm>
          <a:prstGeom prst="rect">
            <a:avLst/>
          </a:prstGeom>
          <a:solidFill>
            <a:srgbClr val="EBF5FF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14600" y="287121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Very high for meaning-based queries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983480" y="2834640"/>
            <a:ext cx="2560320" cy="347472"/>
          </a:xfrm>
          <a:prstGeom prst="rect">
            <a:avLst/>
          </a:prstGeom>
          <a:solidFill>
            <a:srgbClr val="EBF5FF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74920" y="287121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Lower — misses synonyms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543800" y="2834640"/>
            <a:ext cx="1554480" cy="347472"/>
          </a:xfrm>
          <a:prstGeom prst="rect">
            <a:avLst/>
          </a:prstGeom>
          <a:solidFill>
            <a:srgbClr val="EBF5FF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635240" y="28712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</a:rPr>
              <a:t>RAG ✅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28600" y="3182112"/>
            <a:ext cx="2194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0040" y="321868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32"/>
                </a:solidFill>
              </a:rPr>
              <a:t>Accuracy (Structured)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2423160" y="3182112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514600" y="321868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Poor for tables/schemas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983480" y="3182112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074920" y="321868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Excellent for SQL/DB data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7543800" y="3182112"/>
            <a:ext cx="1554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635240" y="32186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897B"/>
                </a:solidFill>
              </a:rPr>
              <a:t>Vectorless ✅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228600" y="3529584"/>
            <a:ext cx="2194560" cy="347472"/>
          </a:xfrm>
          <a:prstGeom prst="rect">
            <a:avLst/>
          </a:prstGeom>
          <a:solidFill>
            <a:srgbClr val="EBF5FF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0040" y="356616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32"/>
                </a:solidFill>
              </a:rPr>
              <a:t>Cost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2423160" y="3529584"/>
            <a:ext cx="2560320" cy="347472"/>
          </a:xfrm>
          <a:prstGeom prst="rect">
            <a:avLst/>
          </a:prstGeom>
          <a:solidFill>
            <a:srgbClr val="EBF5FF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514600" y="35661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High (GPU embeddings, vector DB)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4983480" y="3529584"/>
            <a:ext cx="2560320" cy="347472"/>
          </a:xfrm>
          <a:prstGeom prst="rect">
            <a:avLst/>
          </a:prstGeom>
          <a:solidFill>
            <a:srgbClr val="EBF5FF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074920" y="35661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Low (existing infra)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7543800" y="3529584"/>
            <a:ext cx="1554480" cy="347472"/>
          </a:xfrm>
          <a:prstGeom prst="rect">
            <a:avLst/>
          </a:prstGeom>
          <a:solidFill>
            <a:srgbClr val="EBF5FF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635240" y="35661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897B"/>
                </a:solidFill>
              </a:rPr>
              <a:t>Vectorless ✅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228600" y="3877056"/>
            <a:ext cx="2194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20040" y="39136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32"/>
                </a:solidFill>
              </a:rPr>
              <a:t>Latency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2423160" y="3877056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514600" y="39136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Medium (embedding + search)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4983480" y="3877056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074920" y="39136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Low (fast keyword/API)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7543800" y="3877056"/>
            <a:ext cx="1554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635240" y="39136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897B"/>
                </a:solidFill>
              </a:rPr>
              <a:t>Vectorless ✅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228600" y="4224528"/>
            <a:ext cx="2194560" cy="347472"/>
          </a:xfrm>
          <a:prstGeom prst="rect">
            <a:avLst/>
          </a:prstGeom>
          <a:solidFill>
            <a:srgbClr val="EBF5FF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20040" y="426110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32"/>
                </a:solidFill>
              </a:rPr>
              <a:t>Scalability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2423160" y="4224528"/>
            <a:ext cx="2560320" cy="347472"/>
          </a:xfrm>
          <a:prstGeom prst="rect">
            <a:avLst/>
          </a:prstGeom>
          <a:solidFill>
            <a:srgbClr val="EBF5FF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514600" y="426110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Very high (billions of chunks)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4983480" y="4224528"/>
            <a:ext cx="2560320" cy="347472"/>
          </a:xfrm>
          <a:prstGeom prst="rect">
            <a:avLst/>
          </a:prstGeom>
          <a:solidFill>
            <a:srgbClr val="EBF5FF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074920" y="426110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Moderate (search engine scale)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7543800" y="4224528"/>
            <a:ext cx="1554480" cy="347472"/>
          </a:xfrm>
          <a:prstGeom prst="rect">
            <a:avLst/>
          </a:prstGeom>
          <a:solidFill>
            <a:srgbClr val="EBF5FF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635240" y="426110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</a:rPr>
              <a:t>RAG ✅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228600" y="4572000"/>
            <a:ext cx="2194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20040" y="460857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32"/>
                </a:solidFill>
              </a:rPr>
              <a:t>Best For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2423160" y="4572000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514600" y="460857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Unstructured docs, PDFs, wikis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4983480" y="4572000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074920" y="460857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Structured data, live data, FAQs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7543800" y="4572000"/>
            <a:ext cx="1554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5D8F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635240" y="460857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</a:rPr>
              <a:t>—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  |  Which One Should You Use?  — Decision Guide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758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</a:rPr>
              <a:t>ASK YOURSELF: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5852160" cy="420624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52144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</a:rPr>
              <a:t>Q1.  Do you have large unstructured documents (PDFs, articles, wikis)?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09360" y="1133856"/>
            <a:ext cx="548640" cy="329184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13385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</a:rPr>
              <a:t>YES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949440" y="1133856"/>
            <a:ext cx="1920240" cy="329184"/>
          </a:xfrm>
          <a:prstGeom prst="rect">
            <a:avLst/>
          </a:prstGeom>
          <a:solidFill>
            <a:srgbClr val="EBF3FF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113385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→ Use RAG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591056"/>
            <a:ext cx="5852160" cy="420624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164592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</a:rPr>
              <a:t>Q2.  Do you need semantic / meaning-based search?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09360" y="1627632"/>
            <a:ext cx="548640" cy="329184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62763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</a:rPr>
              <a:t>YES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49440" y="1627632"/>
            <a:ext cx="1920240" cy="329184"/>
          </a:xfrm>
          <a:prstGeom prst="rect">
            <a:avLst/>
          </a:prstGeom>
          <a:solidFill>
            <a:srgbClr val="EBF3FF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16276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→ Use RAG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084832"/>
            <a:ext cx="5852160" cy="420624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2139696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</a:rPr>
              <a:t>Q3.  Is your data structured in a database or spreadsheet?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09360" y="2121408"/>
            <a:ext cx="548640" cy="329184"/>
          </a:xfrm>
          <a:prstGeom prst="rect">
            <a:avLst/>
          </a:prstGeom>
          <a:solidFill>
            <a:srgbClr val="FFFDE7"/>
          </a:solidFill>
          <a:ln w="15240">
            <a:solidFill>
              <a:srgbClr val="F57F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12140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46E7A"/>
                </a:solidFill>
              </a:rPr>
              <a:t>YES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49440" y="2121408"/>
            <a:ext cx="1920240" cy="329184"/>
          </a:xfrm>
          <a:prstGeom prst="rect">
            <a:avLst/>
          </a:prstGeom>
          <a:solidFill>
            <a:srgbClr val="E8F5E9"/>
          </a:solidFill>
          <a:ln w="15240">
            <a:solidFill>
              <a:srgbClr val="0089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212140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→ Use Vectorless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578608"/>
            <a:ext cx="5852160" cy="420624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2633472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</a:rPr>
              <a:t>Q4.  Do you need real-time or live data?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09360" y="2615184"/>
            <a:ext cx="548640" cy="329184"/>
          </a:xfrm>
          <a:prstGeom prst="rect">
            <a:avLst/>
          </a:prstGeom>
          <a:solidFill>
            <a:srgbClr val="FFFDE7"/>
          </a:solidFill>
          <a:ln w="15240">
            <a:solidFill>
              <a:srgbClr val="F57F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261518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46E7A"/>
                </a:solidFill>
              </a:rPr>
              <a:t>YES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49440" y="2615184"/>
            <a:ext cx="1920240" cy="329184"/>
          </a:xfrm>
          <a:prstGeom prst="rect">
            <a:avLst/>
          </a:prstGeom>
          <a:solidFill>
            <a:srgbClr val="E8F5E9"/>
          </a:solidFill>
          <a:ln w="15240">
            <a:solidFill>
              <a:srgbClr val="0089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261518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→ Use Vectorless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072384"/>
            <a:ext cx="5852160" cy="420624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312724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</a:rPr>
              <a:t>Q5.  Do you want to minimize infrastructure cost and complexity?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09360" y="3108960"/>
            <a:ext cx="548640" cy="329184"/>
          </a:xfrm>
          <a:prstGeom prst="rect">
            <a:avLst/>
          </a:prstGeom>
          <a:solidFill>
            <a:srgbClr val="FFFDE7"/>
          </a:solidFill>
          <a:ln w="15240">
            <a:solidFill>
              <a:srgbClr val="F57F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310896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46E7A"/>
                </a:solidFill>
              </a:rPr>
              <a:t>YES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949440" y="3108960"/>
            <a:ext cx="1920240" cy="329184"/>
          </a:xfrm>
          <a:prstGeom prst="rect">
            <a:avLst/>
          </a:prstGeom>
          <a:solidFill>
            <a:srgbClr val="E8F5E9"/>
          </a:solidFill>
          <a:ln w="15240">
            <a:solidFill>
              <a:srgbClr val="00897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0" y="31089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→ Use Vectorless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3566160"/>
            <a:ext cx="5852160" cy="420624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57200" y="3621024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</a:rPr>
              <a:t>Q6.  Do you need to scale to millions of documents?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309360" y="3602736"/>
            <a:ext cx="548640" cy="329184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360273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</a:rPr>
              <a:t>YES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949440" y="3602736"/>
            <a:ext cx="1920240" cy="329184"/>
          </a:xfrm>
          <a:prstGeom prst="rect">
            <a:avLst/>
          </a:prstGeom>
          <a:solidFill>
            <a:srgbClr val="EBF3FF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49440" y="360273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→ Use RAG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0040" y="4059936"/>
            <a:ext cx="5852160" cy="420624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57200" y="411480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</a:rPr>
              <a:t>Q7.  Are users asking exact keyword or SQL-type questions?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309360" y="4096512"/>
            <a:ext cx="548640" cy="329184"/>
          </a:xfrm>
          <a:prstGeom prst="rect">
            <a:avLst/>
          </a:prstGeom>
          <a:solidFill>
            <a:srgbClr val="FFFDE7"/>
          </a:solidFill>
          <a:ln w="15240">
            <a:solidFill>
              <a:srgbClr val="F57F1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9360" y="409651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46E7A"/>
                </a:solidFill>
              </a:rPr>
              <a:t>YES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949440" y="4096512"/>
            <a:ext cx="1920240" cy="329184"/>
          </a:xfrm>
          <a:prstGeom prst="rect">
            <a:avLst/>
          </a:prstGeom>
          <a:solidFill>
            <a:srgbClr val="E8F5E9"/>
          </a:solidFill>
          <a:ln w="15240">
            <a:solidFill>
              <a:srgbClr val="00897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49440" y="40965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897B"/>
                </a:solidFill>
              </a:rPr>
              <a:t>→ Use Vectorless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FINAL VERDICT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7F17"/>
                </a:solidFill>
              </a:rPr>
              <a:t>Which Is Better — RAG or Vectorless RAG?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3931920" cy="2606040"/>
          </a:xfrm>
          <a:prstGeom prst="rect">
            <a:avLst/>
          </a:prstGeom>
          <a:solidFill>
            <a:srgbClr val="0D2550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53312"/>
            <a:ext cx="3931920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5331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RAG IS BEST WHEN…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8470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D9FF"/>
                </a:solidFill>
              </a:rPr>
              <a:t>📚 You have large, unstructured document repositories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D9FF"/>
                </a:solidFill>
              </a:rPr>
              <a:t>🧠 Semantic understanding of meaning is critical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5420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D9FF"/>
                </a:solidFill>
              </a:rPr>
              <a:t>🏢 Enterprise knowledge management systems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88950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D9FF"/>
                </a:solidFill>
              </a:rPr>
              <a:t>📊 Accuracy matters more than speed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2369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D9FF"/>
                </a:solidFill>
              </a:rPr>
              <a:t>🌍 Multi-lingual or domain-specific corpora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58444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D9FF"/>
                </a:solidFill>
              </a:rPr>
              <a:t>🔍 Questions need cross-document reasoning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1353312"/>
            <a:ext cx="3931920" cy="2606040"/>
          </a:xfrm>
          <a:prstGeom prst="rect">
            <a:avLst/>
          </a:prstGeom>
          <a:solidFill>
            <a:srgbClr val="0D2A20"/>
          </a:solidFill>
          <a:ln w="254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353312"/>
            <a:ext cx="3931920" cy="40233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35331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VECTORLESS IS BEST WHEN…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18470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</a:rPr>
              <a:t>🗄️ Data lives in structured databases or APIs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83480" y="21945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</a:rPr>
              <a:t>⚡ Real-time, fresh data is a requirement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83480" y="25420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</a:rPr>
              <a:t>💰 Budget or infra constraints rule out vector DBs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83480" y="288950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</a:rPr>
              <a:t>🔍 Keyword-based or exact-match retrieval suffices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32369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</a:rPr>
              <a:t>🚀 Fast prototyping with minimal setup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83480" y="358444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</a:rPr>
              <a:t>📱 Edge devices or low-resource environments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114800"/>
            <a:ext cx="8412480" cy="749808"/>
          </a:xfrm>
          <a:prstGeom prst="rect">
            <a:avLst/>
          </a:prstGeom>
          <a:solidFill>
            <a:srgbClr val="1A2E1A"/>
          </a:solidFill>
          <a:ln w="25400">
            <a:solidFill>
              <a:srgbClr val="F57F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15137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7F17"/>
                </a:solidFill>
              </a:rPr>
              <a:t>🏆  THE REAL ANSWER: Use BOTH together!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E6C9"/>
                </a:solidFill>
              </a:rPr>
              <a:t>Most production systems combine RAG for semantic search and Vectorless retrieval for structured/live data — a hybrid approach delivers the best of both worlds.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Key Takeaways &amp; Summary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2062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457200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🔵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9601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RAG uses vector embeddings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</a:rPr>
              <a:t>Documents → chunks → embeddings → vector DB → semantic similarity search → LLM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2062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22960"/>
            <a:ext cx="457200" cy="1188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82296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🟢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03520" y="9601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</a:rPr>
              <a:t>Vectorless RAG skips vectors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0" y="132588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</a:rPr>
              <a:t>Uses BM25, SQL, APIs, or direct injection to retrieve knowledge without embedding infrastructure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194560"/>
            <a:ext cx="42062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4A14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194560"/>
            <a:ext cx="457200" cy="118872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19456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23317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148C"/>
                </a:solidFill>
              </a:rPr>
              <a:t>Different strengths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269748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</a:rPr>
              <a:t>RAG wins on semantic accuracy. Vectorless wins on cost, speed, freshness, and structured data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194560"/>
            <a:ext cx="42062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194560"/>
            <a:ext cx="457200" cy="11887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19456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03520" y="23317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</a:rPr>
              <a:t>Cost &amp; complexity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269748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</a:rPr>
              <a:t>RAG needs GPU compute + vector DB. Vectorless leverages existing search and database infra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566160"/>
            <a:ext cx="42062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566160"/>
            <a:ext cx="457200" cy="1188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56616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68680" y="37033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Update strategy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406908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</a:rPr>
              <a:t>RAG needs re-indexing for new data. Vectorless is inherently real-time via live API/DB queries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566160"/>
            <a:ext cx="42062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7F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566160"/>
            <a:ext cx="457200" cy="118872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56616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03520" y="37033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7F17"/>
                </a:solidFill>
              </a:rPr>
              <a:t>Best practice: Hybrid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03520" y="406908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</a:rPr>
              <a:t>Use RAG for unstructured docs + Vectorless for structured/live data in the same system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090C0"/>
                </a:solidFill>
              </a:rPr>
              <a:t>RAG vs Vectorless RAG  •  AI Architecture Presentation  •  2025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vs Vectorless RAG</dc:title>
  <dc:subject>PptxGenJS Presentation</dc:subject>
  <dc:creator>AI Architecture Guide</dc:creator>
  <cp:lastModifiedBy>AI Architecture Guide</cp:lastModifiedBy>
  <cp:revision>1</cp:revision>
  <dcterms:created xsi:type="dcterms:W3CDTF">2026-05-04T10:08:10Z</dcterms:created>
  <dcterms:modified xsi:type="dcterms:W3CDTF">2026-05-04T10:08:10Z</dcterms:modified>
</cp:coreProperties>
</file>